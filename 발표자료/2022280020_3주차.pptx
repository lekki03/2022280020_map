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NanumSquare ExtraBold"/>
      <p:bold r:id="rId11"/>
    </p:embeddedFont>
    <p:embeddedFont>
      <p:font typeface="Be Vietnam Pro Light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.fntdata" Type="http://schemas.openxmlformats.org/officeDocument/2006/relationships/font"/><Relationship Id="rId12" Target="fonts/font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.png" Type="http://schemas.openxmlformats.org/officeDocument/2006/relationships/image"/><Relationship Id="rId7" Target="../media/image11.sv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.png" Type="http://schemas.openxmlformats.org/officeDocument/2006/relationships/image"/><Relationship Id="rId7" Target="../media/image11.svg" Type="http://schemas.openxmlformats.org/officeDocument/2006/relationships/image"/><Relationship Id="rId8" Target="../media/image12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.png" Type="http://schemas.openxmlformats.org/officeDocument/2006/relationships/image"/><Relationship Id="rId7" Target="../media/image11.svg" Type="http://schemas.openxmlformats.org/officeDocument/2006/relationships/image"/><Relationship Id="rId8" Target="../media/image12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809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 rot="0">
            <a:off x="2311400" y="-11912600"/>
            <a:ext cx="21069300" cy="21069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023600" y="3454400"/>
            <a:ext cx="13525500" cy="13525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749300" y="8928100"/>
            <a:ext cx="16789400" cy="38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749300" y="2273300"/>
            <a:ext cx="16789400" cy="38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6751300" y="863600"/>
            <a:ext cx="711200" cy="7112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749300" y="3708400"/>
            <a:ext cx="7493000" cy="1155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367" b="false" i="false" u="none" strike="noStrike">
                <a:solidFill>
                  <a:srgbClr val="FFFFFF"/>
                </a:solidFill>
                <a:latin typeface="NanumSquare ExtraBold"/>
                <a:ea typeface="NanumSquare ExtraBold"/>
                <a:cs typeface="NanumSquare ExtraBold"/>
              </a:rPr>
              <a:t>전시관 맵 디자인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6600" y="5054600"/>
            <a:ext cx="55499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34" b="false" i="false" u="none" strike="noStrike">
                <a:solidFill>
                  <a:srgbClr val="FFFFFF"/>
                </a:solidFill>
                <a:latin typeface="NanumSquare ExtraBold"/>
                <a:ea typeface="NanumSquare ExtraBold"/>
                <a:cs typeface="NanumSquare ExtraBold"/>
              </a:rPr>
              <a:t>2022280020최의진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809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 rot="0">
            <a:off x="-5803900" y="-11290300"/>
            <a:ext cx="21069300" cy="21069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543800" y="6464300"/>
            <a:ext cx="11569700" cy="1156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6840200" y="571500"/>
            <a:ext cx="622300" cy="622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749300" y="1612900"/>
            <a:ext cx="16789400" cy="38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749300" y="9512300"/>
            <a:ext cx="16789400" cy="381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889000" y="1765300"/>
            <a:ext cx="7493000" cy="1155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367" b="false" i="false" u="none" strike="noStrike">
                <a:solidFill>
                  <a:srgbClr val="FFFFFF"/>
                </a:solidFill>
                <a:latin typeface="NanumSquare ExtraBold"/>
                <a:ea typeface="NanumSquare ExtraBold"/>
                <a:cs typeface="NanumSquare ExtraBold"/>
              </a:rPr>
              <a:t>컨셉: 8번출구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146800" y="2755900"/>
            <a:ext cx="10845800" cy="60452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787400" y="2971800"/>
            <a:ext cx="5219700" cy="3009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70" b="false" i="false" u="none" strike="noStrike">
                <a:solidFill>
                  <a:srgbClr val="FFFFFF"/>
                </a:solidFill>
                <a:latin typeface="NanumSquare ExtraBold"/>
                <a:ea typeface="NanumSquare ExtraBold"/>
                <a:cs typeface="NanumSquare ExtraBold"/>
              </a:rPr>
              <a:t>'귀여운 컨셉과 그리스로마컨셉은 어울리지 않을 것 같다'는 피드백을 받고 처음부터 구상</a:t>
            </a:r>
          </a:p>
          <a:p>
            <a:pPr algn="l" lvl="0">
              <a:lnSpc>
                <a:spcPct val="116199"/>
              </a:lnSpc>
            </a:pPr>
            <a:r>
              <a:rPr lang="en-US" sz="3471" b="false" i="false" u="none" strike="noStrike">
                <a:solidFill>
                  <a:srgbClr val="FFFFFF"/>
                </a:solidFill>
                <a:latin typeface="NanumSquare ExtraBold"/>
                <a:ea typeface="NanumSquare ExtraBold"/>
                <a:cs typeface="NanumSquare ExtraBold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670" b="false" i="false" u="none" strike="noStrike">
                <a:solidFill>
                  <a:srgbClr val="FFFFFF"/>
                </a:solidFill>
                <a:latin typeface="NanumSquare ExtraBold"/>
                <a:ea typeface="NanumSquare ExtraBold"/>
                <a:cs typeface="NanumSquare ExtraBold"/>
              </a:rPr>
              <a:t>게임 관련 과인 만큼 이미 존재하는 게임 컨셉으로 디자인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809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 rot="0">
            <a:off x="-5803900" y="-11290300"/>
            <a:ext cx="21069300" cy="21069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543800" y="6464300"/>
            <a:ext cx="11569700" cy="1156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6840200" y="571500"/>
            <a:ext cx="622300" cy="622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749300" y="1612900"/>
            <a:ext cx="16789400" cy="38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749300" y="9512300"/>
            <a:ext cx="16789400" cy="381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889000" y="1765300"/>
            <a:ext cx="7493000" cy="1155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367" b="false" i="false" u="none" strike="noStrike">
                <a:solidFill>
                  <a:srgbClr val="FFFFFF"/>
                </a:solidFill>
                <a:latin typeface="NanumSquare ExtraBold"/>
                <a:ea typeface="NanumSquare ExtraBold"/>
                <a:cs typeface="NanumSquare ExtraBold"/>
              </a:rPr>
              <a:t>기본이 되는 맵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337300" y="2781300"/>
            <a:ext cx="10502900" cy="59309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939800" y="3022600"/>
            <a:ext cx="4902200" cy="5245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71" b="false" i="false" u="none" strike="noStrike">
                <a:solidFill>
                  <a:srgbClr val="FFFFFF"/>
                </a:solidFill>
                <a:latin typeface="NanumSquare ExtraBold"/>
                <a:ea typeface="NanumSquare ExtraBold"/>
                <a:cs typeface="NanumSquare ExtraBold"/>
              </a:rPr>
              <a:t>첫 번째 통로에는 8번출구의 기본적인 맵으로 구성</a:t>
            </a:r>
          </a:p>
          <a:p>
            <a:pPr algn="l" lvl="0">
              <a:lnSpc>
                <a:spcPct val="116199"/>
              </a:lnSpc>
            </a:pPr>
            <a:r>
              <a:rPr lang="en-US" sz="2671" b="false" i="false" u="none" strike="noStrike">
                <a:solidFill>
                  <a:srgbClr val="FFFFFF"/>
                </a:solidFill>
                <a:latin typeface="NanumSquare ExtraBold"/>
                <a:ea typeface="NanumSquare ExtraBold"/>
                <a:cs typeface="NanumSquare ExtraBold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671" b="false" i="false" u="none" strike="noStrike">
                <a:solidFill>
                  <a:srgbClr val="FFFFFF"/>
                </a:solidFill>
                <a:latin typeface="NanumSquare ExtraBold"/>
                <a:ea typeface="NanumSquare ExtraBold"/>
                <a:cs typeface="NanumSquare ExtraBold"/>
              </a:rPr>
              <a:t>다음 통로부터는 작품 컨셉에 따라 조금씩 다르게 디자인하여 차이점을 만들어 반복되는 공간에 지루함을 제거</a:t>
            </a:r>
          </a:p>
          <a:p>
            <a:pPr algn="l" lvl="0">
              <a:lnSpc>
                <a:spcPct val="116199"/>
              </a:lnSpc>
            </a:pPr>
            <a:r>
              <a:rPr lang="en-US" sz="2671" b="false" i="false" u="none" strike="noStrike">
                <a:solidFill>
                  <a:srgbClr val="FFFFFF"/>
                </a:solidFill>
                <a:latin typeface="NanumSquare ExtraBold"/>
                <a:ea typeface="NanumSquare ExtraBold"/>
                <a:cs typeface="NanumSquare ExtraBold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671" b="false" i="false" u="none" strike="noStrike">
                <a:solidFill>
                  <a:srgbClr val="FFFFFF"/>
                </a:solidFill>
                <a:latin typeface="NanumSquare ExtraBold"/>
                <a:ea typeface="NanumSquare ExtraBold"/>
                <a:cs typeface="NanumSquare ExtraBold"/>
              </a:rPr>
              <a:t>예)나무,풀 작품이 있는 통로는 바닥에 잔디가 생기고 벽에 덩굴을 추가하는 방식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809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 rot="0">
            <a:off x="-5803900" y="-11290300"/>
            <a:ext cx="21069300" cy="21069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543800" y="6464300"/>
            <a:ext cx="11569700" cy="1156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6840200" y="571500"/>
            <a:ext cx="622300" cy="622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749300" y="1612900"/>
            <a:ext cx="16789400" cy="38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749300" y="9512300"/>
            <a:ext cx="16789400" cy="381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889000" y="1765300"/>
            <a:ext cx="7493000" cy="1155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367" b="false" i="false" u="none" strike="noStrike">
                <a:solidFill>
                  <a:srgbClr val="FFFFFF"/>
                </a:solidFill>
                <a:latin typeface="NanumSquare ExtraBold"/>
                <a:ea typeface="NanumSquare ExtraBold"/>
                <a:cs typeface="NanumSquare ExtraBold"/>
              </a:rPr>
              <a:t>작품이 전시될 위치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591300" y="2997200"/>
            <a:ext cx="10160000" cy="57404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965200" y="3048000"/>
            <a:ext cx="48514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71" b="false" i="false" u="none" strike="noStrike">
                <a:solidFill>
                  <a:srgbClr val="FFFFFF"/>
                </a:solidFill>
                <a:latin typeface="NanumSquare ExtraBold"/>
                <a:ea typeface="NanumSquare ExtraBold"/>
                <a:cs typeface="NanumSquare ExtraBold"/>
              </a:rPr>
              <a:t>작품들은 원작 8번출구 맵에 붙어있는 포스터 위치에 작품들을 전시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8093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 rot="0">
            <a:off x="-4292600" y="-12611100"/>
            <a:ext cx="21069300" cy="21069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131300" y="-8877300"/>
            <a:ext cx="13512800" cy="1351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749300" y="9232900"/>
            <a:ext cx="16789400" cy="38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749300" y="2273300"/>
            <a:ext cx="16789400" cy="38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6751300" y="863600"/>
            <a:ext cx="711200" cy="7112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939800" y="4343400"/>
            <a:ext cx="9283700" cy="2349500"/>
          </a:xfrm>
          <a:prstGeom prst="rect">
            <a:avLst/>
          </a:prstGeom>
        </p:spPr>
        <p:txBody>
          <a:bodyPr anchor="ctr" rtlCol="false" lIns="0" tIns="82755" rIns="0" bIns="82755"/>
          <a:lstStyle/>
          <a:p>
            <a:pPr algn="l" lvl="0">
              <a:lnSpc>
                <a:spcPct val="107899"/>
              </a:lnSpc>
            </a:pPr>
            <a:r>
              <a:rPr lang="en-US" sz="13032" b="false" i="false" u="none" strike="noStrike" spc="-400">
                <a:solidFill>
                  <a:srgbClr val="FFFFFF"/>
                </a:solidFill>
                <a:latin typeface="Be Vietnam Pro Light"/>
                <a:ea typeface="Be Vietnam Pro Light"/>
                <a:cs typeface="Be Vietnam Pro Light"/>
              </a:rP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